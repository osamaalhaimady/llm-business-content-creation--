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1" r:id="rId3"/>
    <p:sldMasterId id="2147483674" r:id="rId4"/>
    <p:sldMasterId id="2147483687" r:id="rId5"/>
  </p:sldMasterIdLst>
  <p:notesMasterIdLst>
    <p:notesMasterId r:id="rId7"/>
  </p:notesMasterIdLst>
  <p:sldIdLst>
    <p:sldId id="256" r:id="rId6"/>
    <p:sldId id="257" r:id="rId8"/>
    <p:sldId id="269" r:id="rId9"/>
    <p:sldId id="259" r:id="rId10"/>
    <p:sldId id="271" r:id="rId11"/>
    <p:sldId id="270" r:id="rId12"/>
    <p:sldId id="275" r:id="rId13"/>
    <p:sldId id="276" r:id="rId14"/>
    <p:sldId id="272" r:id="rId15"/>
    <p:sldId id="273" r:id="rId16"/>
    <p:sldId id="274" r:id="rId17"/>
    <p:sldId id="258" r:id="rId18"/>
    <p:sldId id="267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795e63e999_12_54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g2795e63e999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362da706c_2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8" name="Google Shape;288;g36362da706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5e63e999_12_7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g2795e63e999_12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362da706c_3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7" name="Google Shape;307;g36362da706c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795e63e999_12_115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g2795e63e999_1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2771820" y="1782000"/>
            <a:ext cx="3600248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spcBef>
                <a:spcPts val="1200"/>
              </a:spcBef>
              <a:spcAft>
                <a:spcPts val="120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Slide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2771820" y="1782000"/>
            <a:ext cx="3600248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7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3600248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subTitle" idx="1"/>
          </p:nvPr>
        </p:nvSpPr>
        <p:spPr>
          <a:xfrm>
            <a:off x="457043" y="205133"/>
            <a:ext cx="8229397" cy="398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21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8" name="Google Shape;78;p21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1" name="Google Shape;81;p22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2" name="Google Shape;82;p22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22"/>
          <p:cNvSpPr txBox="1">
            <a:spLocks noGrp="1"/>
          </p:cNvSpPr>
          <p:nvPr>
            <p:ph type="body" idx="3"/>
          </p:nvPr>
        </p:nvSpPr>
        <p:spPr>
          <a:xfrm>
            <a:off x="4616797" y="2606985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8" name="Google Shape;88;p23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3600248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1" name="Google Shape;91;p24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3600248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24"/>
          <p:cNvSpPr txBox="1">
            <a:spLocks noGrp="1"/>
          </p:cNvSpPr>
          <p:nvPr>
            <p:ph type="body" idx="2"/>
          </p:nvPr>
        </p:nvSpPr>
        <p:spPr>
          <a:xfrm>
            <a:off x="2771820" y="2606985"/>
            <a:ext cx="3600248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5" name="Google Shape;95;p25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5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5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5"/>
          <p:cNvSpPr txBox="1">
            <a:spLocks noGrp="1"/>
          </p:cNvSpPr>
          <p:nvPr>
            <p:ph type="body" idx="4"/>
          </p:nvPr>
        </p:nvSpPr>
        <p:spPr>
          <a:xfrm>
            <a:off x="4616797" y="2606985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6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2" name="Google Shape;102;p26"/>
          <p:cNvSpPr txBox="1">
            <a:spLocks noGrp="1"/>
          </p:cNvSpPr>
          <p:nvPr>
            <p:ph type="body" idx="2"/>
          </p:nvPr>
        </p:nvSpPr>
        <p:spPr>
          <a:xfrm>
            <a:off x="3989048" y="1782000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3" name="Google Shape;103;p26"/>
          <p:cNvSpPr txBox="1">
            <a:spLocks noGrp="1"/>
          </p:cNvSpPr>
          <p:nvPr>
            <p:ph type="body" idx="3"/>
          </p:nvPr>
        </p:nvSpPr>
        <p:spPr>
          <a:xfrm>
            <a:off x="5206478" y="1782000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6"/>
          <p:cNvSpPr txBox="1">
            <a:spLocks noGrp="1"/>
          </p:cNvSpPr>
          <p:nvPr>
            <p:ph type="body" idx="4"/>
          </p:nvPr>
        </p:nvSpPr>
        <p:spPr>
          <a:xfrm>
            <a:off x="2771820" y="2606985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6"/>
          <p:cNvSpPr txBox="1">
            <a:spLocks noGrp="1"/>
          </p:cNvSpPr>
          <p:nvPr>
            <p:ph type="body" idx="5"/>
          </p:nvPr>
        </p:nvSpPr>
        <p:spPr>
          <a:xfrm>
            <a:off x="3989048" y="2606985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6" name="Google Shape;106;p26"/>
          <p:cNvSpPr txBox="1">
            <a:spLocks noGrp="1"/>
          </p:cNvSpPr>
          <p:nvPr>
            <p:ph type="body" idx="6"/>
          </p:nvPr>
        </p:nvSpPr>
        <p:spPr>
          <a:xfrm>
            <a:off x="5206478" y="2606985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Slide">
  <p:cSld name="TITLE_AND_BOD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9"/>
          <p:cNvSpPr txBox="1">
            <a:spLocks noGrp="1"/>
          </p:cNvSpPr>
          <p:nvPr>
            <p:ph type="subTitle" idx="1"/>
          </p:nvPr>
        </p:nvSpPr>
        <p:spPr>
          <a:xfrm>
            <a:off x="2771820" y="1782000"/>
            <a:ext cx="3600300" cy="1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0" name="Google Shape;120;p30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3600300" cy="1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31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00" cy="1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31"/>
          <p:cNvSpPr txBox="1">
            <a:spLocks noGrp="1"/>
          </p:cNvSpPr>
          <p:nvPr>
            <p:ph type="body" idx="2"/>
          </p:nvPr>
        </p:nvSpPr>
        <p:spPr>
          <a:xfrm>
            <a:off x="4616798" y="1782000"/>
            <a:ext cx="1756800" cy="1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 txBox="1">
            <a:spLocks noGrp="1"/>
          </p:cNvSpPr>
          <p:nvPr>
            <p:ph type="subTitle" idx="1"/>
          </p:nvPr>
        </p:nvSpPr>
        <p:spPr>
          <a:xfrm>
            <a:off x="457043" y="205133"/>
            <a:ext cx="8229300" cy="39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31" name="Google Shape;131;p34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32" name="Google Shape;132;p34"/>
          <p:cNvSpPr txBox="1">
            <a:spLocks noGrp="1"/>
          </p:cNvSpPr>
          <p:nvPr>
            <p:ph type="body" idx="2"/>
          </p:nvPr>
        </p:nvSpPr>
        <p:spPr>
          <a:xfrm>
            <a:off x="4616798" y="1782000"/>
            <a:ext cx="1756800" cy="1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33" name="Google Shape;133;p34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36" name="Google Shape;136;p35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00" cy="1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37" name="Google Shape;137;p35"/>
          <p:cNvSpPr txBox="1">
            <a:spLocks noGrp="1"/>
          </p:cNvSpPr>
          <p:nvPr>
            <p:ph type="body" idx="2"/>
          </p:nvPr>
        </p:nvSpPr>
        <p:spPr>
          <a:xfrm>
            <a:off x="4616798" y="1782000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38" name="Google Shape;138;p35"/>
          <p:cNvSpPr txBox="1">
            <a:spLocks noGrp="1"/>
          </p:cNvSpPr>
          <p:nvPr>
            <p:ph type="body" idx="3"/>
          </p:nvPr>
        </p:nvSpPr>
        <p:spPr>
          <a:xfrm>
            <a:off x="4616798" y="2606985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6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1" name="Google Shape;141;p36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2" name="Google Shape;142;p36"/>
          <p:cNvSpPr txBox="1">
            <a:spLocks noGrp="1"/>
          </p:cNvSpPr>
          <p:nvPr>
            <p:ph type="body" idx="2"/>
          </p:nvPr>
        </p:nvSpPr>
        <p:spPr>
          <a:xfrm>
            <a:off x="4616798" y="1782000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3" name="Google Shape;143;p36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36003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6" name="Google Shape;146;p37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36003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7" name="Google Shape;147;p37"/>
          <p:cNvSpPr txBox="1">
            <a:spLocks noGrp="1"/>
          </p:cNvSpPr>
          <p:nvPr>
            <p:ph type="body" idx="2"/>
          </p:nvPr>
        </p:nvSpPr>
        <p:spPr>
          <a:xfrm>
            <a:off x="2771820" y="2606985"/>
            <a:ext cx="36003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8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0" name="Google Shape;150;p38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1" name="Google Shape;151;p38"/>
          <p:cNvSpPr txBox="1">
            <a:spLocks noGrp="1"/>
          </p:cNvSpPr>
          <p:nvPr>
            <p:ph type="body" idx="2"/>
          </p:nvPr>
        </p:nvSpPr>
        <p:spPr>
          <a:xfrm>
            <a:off x="4616798" y="1782000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2" name="Google Shape;152;p38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3" name="Google Shape;153;p38"/>
          <p:cNvSpPr txBox="1">
            <a:spLocks noGrp="1"/>
          </p:cNvSpPr>
          <p:nvPr>
            <p:ph type="body" idx="4"/>
          </p:nvPr>
        </p:nvSpPr>
        <p:spPr>
          <a:xfrm>
            <a:off x="4616798" y="2606985"/>
            <a:ext cx="17568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9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6" name="Google Shape;156;p39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1592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7" name="Google Shape;157;p39"/>
          <p:cNvSpPr txBox="1">
            <a:spLocks noGrp="1"/>
          </p:cNvSpPr>
          <p:nvPr>
            <p:ph type="body" idx="2"/>
          </p:nvPr>
        </p:nvSpPr>
        <p:spPr>
          <a:xfrm>
            <a:off x="3989048" y="1782000"/>
            <a:ext cx="11592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8" name="Google Shape;158;p39"/>
          <p:cNvSpPr txBox="1">
            <a:spLocks noGrp="1"/>
          </p:cNvSpPr>
          <p:nvPr>
            <p:ph type="body" idx="3"/>
          </p:nvPr>
        </p:nvSpPr>
        <p:spPr>
          <a:xfrm>
            <a:off x="5206478" y="1782000"/>
            <a:ext cx="11592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9" name="Google Shape;159;p39"/>
          <p:cNvSpPr txBox="1">
            <a:spLocks noGrp="1"/>
          </p:cNvSpPr>
          <p:nvPr>
            <p:ph type="body" idx="4"/>
          </p:nvPr>
        </p:nvSpPr>
        <p:spPr>
          <a:xfrm>
            <a:off x="2771820" y="2606985"/>
            <a:ext cx="11592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60" name="Google Shape;160;p39"/>
          <p:cNvSpPr txBox="1">
            <a:spLocks noGrp="1"/>
          </p:cNvSpPr>
          <p:nvPr>
            <p:ph type="body" idx="5"/>
          </p:nvPr>
        </p:nvSpPr>
        <p:spPr>
          <a:xfrm>
            <a:off x="3989048" y="2606985"/>
            <a:ext cx="11592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61" name="Google Shape;161;p39"/>
          <p:cNvSpPr txBox="1">
            <a:spLocks noGrp="1"/>
          </p:cNvSpPr>
          <p:nvPr>
            <p:ph type="body" idx="6"/>
          </p:nvPr>
        </p:nvSpPr>
        <p:spPr>
          <a:xfrm>
            <a:off x="5206478" y="2606985"/>
            <a:ext cx="11592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Slide">
  <p:cSld name="TITLE_AND_BODY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5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32" name="Google Shape;232;p55"/>
          <p:cNvSpPr txBox="1">
            <a:spLocks noGrp="1"/>
          </p:cNvSpPr>
          <p:nvPr>
            <p:ph type="subTitle" idx="1"/>
          </p:nvPr>
        </p:nvSpPr>
        <p:spPr>
          <a:xfrm>
            <a:off x="2771820" y="1782000"/>
            <a:ext cx="3600248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6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35" name="Google Shape;235;p56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3600248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7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38" name="Google Shape;238;p57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39" name="Google Shape;239;p57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8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9"/>
          <p:cNvSpPr txBox="1">
            <a:spLocks noGrp="1"/>
          </p:cNvSpPr>
          <p:nvPr>
            <p:ph type="subTitle" idx="1"/>
          </p:nvPr>
        </p:nvSpPr>
        <p:spPr>
          <a:xfrm>
            <a:off x="457043" y="205133"/>
            <a:ext cx="8229397" cy="398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0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46" name="Google Shape;246;p60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47" name="Google Shape;247;p60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48" name="Google Shape;248;p60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1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51" name="Google Shape;251;p61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157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52" name="Google Shape;252;p61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53" name="Google Shape;253;p61"/>
          <p:cNvSpPr txBox="1">
            <a:spLocks noGrp="1"/>
          </p:cNvSpPr>
          <p:nvPr>
            <p:ph type="body" idx="3"/>
          </p:nvPr>
        </p:nvSpPr>
        <p:spPr>
          <a:xfrm>
            <a:off x="4616797" y="2606985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2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56" name="Google Shape;256;p62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57" name="Google Shape;257;p62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58" name="Google Shape;258;p62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3600248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3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61" name="Google Shape;261;p63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3600248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62" name="Google Shape;262;p63"/>
          <p:cNvSpPr txBox="1">
            <a:spLocks noGrp="1"/>
          </p:cNvSpPr>
          <p:nvPr>
            <p:ph type="body" idx="2"/>
          </p:nvPr>
        </p:nvSpPr>
        <p:spPr>
          <a:xfrm>
            <a:off x="2771820" y="2606985"/>
            <a:ext cx="3600248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4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65" name="Google Shape;265;p64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66" name="Google Shape;266;p64"/>
          <p:cNvSpPr txBox="1">
            <a:spLocks noGrp="1"/>
          </p:cNvSpPr>
          <p:nvPr>
            <p:ph type="body" idx="2"/>
          </p:nvPr>
        </p:nvSpPr>
        <p:spPr>
          <a:xfrm>
            <a:off x="4616797" y="1782000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67" name="Google Shape;267;p64"/>
          <p:cNvSpPr txBox="1">
            <a:spLocks noGrp="1"/>
          </p:cNvSpPr>
          <p:nvPr>
            <p:ph type="body" idx="3"/>
          </p:nvPr>
        </p:nvSpPr>
        <p:spPr>
          <a:xfrm>
            <a:off x="2771820" y="2606985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68" name="Google Shape;268;p64"/>
          <p:cNvSpPr txBox="1">
            <a:spLocks noGrp="1"/>
          </p:cNvSpPr>
          <p:nvPr>
            <p:ph type="body" idx="4"/>
          </p:nvPr>
        </p:nvSpPr>
        <p:spPr>
          <a:xfrm>
            <a:off x="4616797" y="2606985"/>
            <a:ext cx="175689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5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71" name="Google Shape;271;p65"/>
          <p:cNvSpPr txBox="1">
            <a:spLocks noGrp="1"/>
          </p:cNvSpPr>
          <p:nvPr>
            <p:ph type="body" idx="1"/>
          </p:nvPr>
        </p:nvSpPr>
        <p:spPr>
          <a:xfrm>
            <a:off x="2771820" y="1782000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72" name="Google Shape;272;p65"/>
          <p:cNvSpPr txBox="1">
            <a:spLocks noGrp="1"/>
          </p:cNvSpPr>
          <p:nvPr>
            <p:ph type="body" idx="2"/>
          </p:nvPr>
        </p:nvSpPr>
        <p:spPr>
          <a:xfrm>
            <a:off x="3989048" y="1782000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73" name="Google Shape;273;p65"/>
          <p:cNvSpPr txBox="1">
            <a:spLocks noGrp="1"/>
          </p:cNvSpPr>
          <p:nvPr>
            <p:ph type="body" idx="3"/>
          </p:nvPr>
        </p:nvSpPr>
        <p:spPr>
          <a:xfrm>
            <a:off x="5206478" y="1782000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74" name="Google Shape;274;p65"/>
          <p:cNvSpPr txBox="1">
            <a:spLocks noGrp="1"/>
          </p:cNvSpPr>
          <p:nvPr>
            <p:ph type="body" idx="4"/>
          </p:nvPr>
        </p:nvSpPr>
        <p:spPr>
          <a:xfrm>
            <a:off x="2771820" y="2606985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75" name="Google Shape;275;p65"/>
          <p:cNvSpPr txBox="1">
            <a:spLocks noGrp="1"/>
          </p:cNvSpPr>
          <p:nvPr>
            <p:ph type="body" idx="5"/>
          </p:nvPr>
        </p:nvSpPr>
        <p:spPr>
          <a:xfrm>
            <a:off x="3989048" y="2606985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76" name="Google Shape;276;p65"/>
          <p:cNvSpPr txBox="1">
            <a:spLocks noGrp="1"/>
          </p:cNvSpPr>
          <p:nvPr>
            <p:ph type="body" idx="6"/>
          </p:nvPr>
        </p:nvSpPr>
        <p:spPr>
          <a:xfrm>
            <a:off x="5206478" y="2606985"/>
            <a:ext cx="115911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5" Type="http://schemas.openxmlformats.org/officeDocument/2006/relationships/theme" Target="../theme/theme3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4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0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7572285" y="171517"/>
            <a:ext cx="1285673" cy="51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7489463" y="4505625"/>
            <a:ext cx="1488982" cy="3505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285727" y="3300142"/>
            <a:ext cx="274306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25" tIns="25325" rIns="50625" bIns="25325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285728" y="177795"/>
            <a:ext cx="4200255" cy="69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25" tIns="25325" rIns="50625" bIns="25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57043" y="205133"/>
            <a:ext cx="8229397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7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7572285" y="171518"/>
            <a:ext cx="1285673" cy="51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7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7489463" y="4505625"/>
            <a:ext cx="1488983" cy="35052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7"/>
          <p:cNvSpPr txBox="1">
            <a:spLocks noGrp="1"/>
          </p:cNvSpPr>
          <p:nvPr>
            <p:ph type="body" idx="1"/>
          </p:nvPr>
        </p:nvSpPr>
        <p:spPr>
          <a:xfrm>
            <a:off x="1753650" y="3300143"/>
            <a:ext cx="29040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25" tIns="25325" rIns="50625" bIns="25325" anchor="b" anchorCtr="0">
            <a:no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  <p:sp>
        <p:nvSpPr>
          <p:cNvPr id="111" name="Google Shape;111;p27"/>
          <p:cNvSpPr txBox="1">
            <a:spLocks noGrp="1"/>
          </p:cNvSpPr>
          <p:nvPr>
            <p:ph type="body" idx="2"/>
          </p:nvPr>
        </p:nvSpPr>
        <p:spPr>
          <a:xfrm>
            <a:off x="285525" y="3300143"/>
            <a:ext cx="1285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25" tIns="25325" rIns="50625" bIns="25325" anchor="t" anchorCtr="0">
            <a:no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  <p:sp>
        <p:nvSpPr>
          <p:cNvPr id="112" name="Google Shape;112;p27"/>
          <p:cNvSpPr txBox="1">
            <a:spLocks noGrp="1"/>
          </p:cNvSpPr>
          <p:nvPr>
            <p:ph type="body" idx="3"/>
          </p:nvPr>
        </p:nvSpPr>
        <p:spPr>
          <a:xfrm>
            <a:off x="285728" y="177795"/>
            <a:ext cx="42003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25" tIns="25325" rIns="50625" bIns="25325" anchor="t" anchorCtr="0">
            <a:no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457043" y="205132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53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7872390" y="171517"/>
            <a:ext cx="985568" cy="39811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3"/>
          <p:cNvSpPr/>
          <p:nvPr/>
        </p:nvSpPr>
        <p:spPr>
          <a:xfrm>
            <a:off x="0" y="0"/>
            <a:ext cx="4485983" cy="5143297"/>
          </a:xfrm>
          <a:prstGeom prst="rect">
            <a:avLst/>
          </a:prstGeom>
          <a:solidFill>
            <a:srgbClr val="FFC000"/>
          </a:solidFill>
          <a:ln w="12600" cap="flat" cmpd="sng">
            <a:solidFill>
              <a:srgbClr val="BC8E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51425" tIns="51425" rIns="51425" bIns="5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53"/>
          <p:cNvSpPr txBox="1">
            <a:spLocks noGrp="1"/>
          </p:cNvSpPr>
          <p:nvPr>
            <p:ph type="title"/>
          </p:nvPr>
        </p:nvSpPr>
        <p:spPr>
          <a:xfrm>
            <a:off x="292208" y="171517"/>
            <a:ext cx="4028940" cy="72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  <p:sp>
        <p:nvSpPr>
          <p:cNvPr id="227" name="Google Shape;227;p53"/>
          <p:cNvSpPr txBox="1">
            <a:spLocks noGrp="1"/>
          </p:cNvSpPr>
          <p:nvPr>
            <p:ph type="body" idx="1"/>
          </p:nvPr>
        </p:nvSpPr>
        <p:spPr>
          <a:xfrm>
            <a:off x="4657703" y="1071630"/>
            <a:ext cx="4200255" cy="3514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25" tIns="25325" rIns="50625" bIns="25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  <p:sp>
        <p:nvSpPr>
          <p:cNvPr id="228" name="Google Shape;228;p53"/>
          <p:cNvSpPr txBox="1">
            <a:spLocks noGrp="1"/>
          </p:cNvSpPr>
          <p:nvPr>
            <p:ph type="body" idx="2"/>
          </p:nvPr>
        </p:nvSpPr>
        <p:spPr>
          <a:xfrm>
            <a:off x="285728" y="1071630"/>
            <a:ext cx="4028940" cy="3514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25" tIns="25325" rIns="50625" bIns="25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000" b="0" i="0" u="none" strike="noStrike" cap="none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37.xml"/><Relationship Id="rId5" Type="http://schemas.openxmlformats.org/officeDocument/2006/relationships/image" Target="../media/image16.jpeg"/><Relationship Id="rId4" Type="http://schemas.openxmlformats.org/officeDocument/2006/relationships/image" Target="../media/image3.png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6"/>
          <p:cNvSpPr txBox="1"/>
          <p:nvPr/>
        </p:nvSpPr>
        <p:spPr>
          <a:xfrm>
            <a:off x="137711" y="883932"/>
            <a:ext cx="886857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dirty="0"/>
              <a:t>LLM for Business Content Creation</a:t>
            </a:r>
            <a:endParaRPr lang="en-ID" sz="3200" b="1" dirty="0"/>
          </a:p>
        </p:txBody>
      </p:sp>
      <p:sp>
        <p:nvSpPr>
          <p:cNvPr id="282" name="Google Shape;282;p66"/>
          <p:cNvSpPr txBox="1"/>
          <p:nvPr/>
        </p:nvSpPr>
        <p:spPr>
          <a:xfrm>
            <a:off x="690245" y="1979930"/>
            <a:ext cx="7550150" cy="206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/>
              <a:t>Team</a:t>
            </a:r>
            <a:r>
              <a:rPr lang="en-US" sz="1700" dirty="0"/>
              <a:t>:</a:t>
            </a:r>
            <a:r>
              <a:rPr lang="en-IN" sz="1700" dirty="0"/>
              <a:t> </a:t>
            </a:r>
            <a:endParaRPr lang="en-IN" sz="17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700" dirty="0"/>
            </a:br>
            <a:r>
              <a:rPr lang="en-IN" sz="1700" dirty="0"/>
              <a:t>Dinar </a:t>
            </a:r>
            <a:r>
              <a:rPr lang="en-IN" sz="1700" dirty="0" err="1"/>
              <a:t>Galimov</a:t>
            </a:r>
            <a:r>
              <a:rPr lang="en-IN" sz="1700" dirty="0"/>
              <a:t>, Harbin Institute of Technology</a:t>
            </a:r>
            <a:endParaRPr lang="en-IN" sz="17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/>
              <a:t>Abdulrahman Nabil Abdo Al-</a:t>
            </a:r>
            <a:r>
              <a:rPr lang="en-IN" sz="1700" dirty="0" err="1"/>
              <a:t>sameai</a:t>
            </a:r>
            <a:r>
              <a:rPr lang="en-IN" sz="1700" dirty="0"/>
              <a:t>, Yangzhou University </a:t>
            </a:r>
            <a:endParaRPr lang="en-IN" sz="17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>
                <a:sym typeface="+mn-ea"/>
              </a:rPr>
              <a:t>Al-</a:t>
            </a:r>
            <a:r>
              <a:rPr lang="en-IN" sz="1700" dirty="0" err="1">
                <a:sym typeface="+mn-ea"/>
              </a:rPr>
              <a:t>haimady</a:t>
            </a:r>
            <a:r>
              <a:rPr lang="en-US" altLang="en-IN" sz="1700" dirty="0" err="1">
                <a:sym typeface="+mn-ea"/>
              </a:rPr>
              <a:t> </a:t>
            </a:r>
            <a:r>
              <a:rPr lang="en-IN" sz="1700" dirty="0"/>
              <a:t>Osama Yahya Mohammed Ahmed, Yangzhou University,</a:t>
            </a:r>
            <a:endParaRPr lang="en-IN" sz="17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/>
              <a:t>Umar Muhammad Mustapha </a:t>
            </a:r>
            <a:r>
              <a:rPr lang="en-IN" sz="1700" dirty="0" err="1"/>
              <a:t>Kumshe</a:t>
            </a:r>
            <a:r>
              <a:rPr lang="en-IN" sz="1700" dirty="0"/>
              <a:t>, </a:t>
            </a:r>
            <a:r>
              <a:rPr lang="en-IN" sz="1700" dirty="0" err="1"/>
              <a:t>Hohai</a:t>
            </a:r>
            <a:r>
              <a:rPr lang="en-IN" sz="1700" dirty="0"/>
              <a:t> University</a:t>
            </a:r>
            <a:endParaRPr sz="17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 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711" y="451560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sz="1400" b="1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Curator(s)</a:t>
            </a:r>
            <a:r>
              <a:rPr lang="ar-SA" sz="1400" b="1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IN" sz="1400" b="1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name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: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ID" sz="1400" b="0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Dmitry </a:t>
            </a:r>
            <a:r>
              <a:rPr lang="en-ID" sz="1400" b="0" i="0" dirty="0" err="1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Bazyukin</a:t>
            </a:r>
            <a:r>
              <a:rPr lang="en-ID" sz="1400" b="0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, Dmitry </a:t>
            </a:r>
            <a:r>
              <a:rPr lang="en-ID" sz="1400" b="0" i="0" dirty="0" err="1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Akulichev</a:t>
            </a:r>
            <a:r>
              <a:rPr lang="en-ID" sz="1400" b="0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, </a:t>
            </a:r>
            <a:endParaRPr lang="en-ID" dirty="0">
              <a:effectLst/>
            </a:endParaRPr>
          </a:p>
          <a:p>
            <a:pPr marL="0" marR="0" indent="0" algn="l" rtl="0">
              <a:spcBef>
                <a:spcPts val="0"/>
              </a:spcBef>
              <a:spcAft>
                <a:spcPts val="0"/>
              </a:spcAft>
            </a:pPr>
            <a:r>
              <a:rPr lang="en-ID" sz="1400" b="0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Alexey </a:t>
            </a:r>
            <a:r>
              <a:rPr lang="en-ID" sz="1400" b="0" i="0" dirty="0" err="1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Chernyshov</a:t>
            </a:r>
            <a:r>
              <a:rPr lang="en-ID" sz="1400" b="0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, Andrey </a:t>
            </a:r>
            <a:r>
              <a:rPr lang="en-ID" sz="1400" b="0" i="0" dirty="0" err="1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Kostornoy</a:t>
            </a:r>
            <a:r>
              <a:rPr lang="en-ID" sz="1400" b="0" i="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, Artem </a:t>
            </a:r>
            <a:r>
              <a:rPr lang="en-ID" sz="1400" b="0" i="0" dirty="0" err="1">
                <a:solidFill>
                  <a:srgbClr val="000000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Kopin</a:t>
            </a:r>
            <a:endParaRPr lang="en-ID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7"/>
          <p:cNvSpPr/>
          <p:nvPr/>
        </p:nvSpPr>
        <p:spPr>
          <a:xfrm rot="10800000">
            <a:off x="202900" y="1450982"/>
            <a:ext cx="4169700" cy="30099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91" name="Google Shape;291;p67"/>
          <p:cNvSpPr txBox="1"/>
          <p:nvPr/>
        </p:nvSpPr>
        <p:spPr>
          <a:xfrm>
            <a:off x="899050" y="1450982"/>
            <a:ext cx="2777400" cy="6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/>
              <a:t>Problem Statement &amp; plan</a:t>
            </a:r>
            <a:endParaRPr sz="1600" b="1" dirty="0"/>
          </a:p>
        </p:txBody>
      </p:sp>
      <p:sp>
        <p:nvSpPr>
          <p:cNvPr id="292" name="Google Shape;292;p67"/>
          <p:cNvSpPr txBox="1"/>
          <p:nvPr/>
        </p:nvSpPr>
        <p:spPr>
          <a:xfrm>
            <a:off x="878100" y="2095982"/>
            <a:ext cx="27774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 b="1" dirty="0">
                <a:solidFill>
                  <a:schemeClr val="dk1"/>
                </a:solidFill>
              </a:rPr>
              <a:t>Methodology</a:t>
            </a:r>
            <a:endParaRPr lang="en-ID" sz="1600" b="1" dirty="0">
              <a:solidFill>
                <a:schemeClr val="dk1"/>
              </a:solidFill>
            </a:endParaRPr>
          </a:p>
        </p:txBody>
      </p:sp>
      <p:sp>
        <p:nvSpPr>
          <p:cNvPr id="293" name="Google Shape;293;p67"/>
          <p:cNvSpPr txBox="1"/>
          <p:nvPr/>
        </p:nvSpPr>
        <p:spPr>
          <a:xfrm>
            <a:off x="966800" y="2905306"/>
            <a:ext cx="2676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</a:rPr>
              <a:t>Result &amp; </a:t>
            </a:r>
            <a:endParaRPr lang="en-IN" sz="16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dirty="0">
                <a:solidFill>
                  <a:schemeClr val="dk1"/>
                </a:solidFill>
              </a:rPr>
              <a:t>Recommendation</a:t>
            </a:r>
            <a:endParaRPr lang="en-IN" sz="13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1600" b="1" dirty="0">
              <a:solidFill>
                <a:schemeClr val="dk1"/>
              </a:solidFill>
            </a:endParaRPr>
          </a:p>
        </p:txBody>
      </p:sp>
      <p:cxnSp>
        <p:nvCxnSpPr>
          <p:cNvPr id="294" name="Google Shape;294;p67"/>
          <p:cNvCxnSpPr/>
          <p:nvPr/>
        </p:nvCxnSpPr>
        <p:spPr>
          <a:xfrm rot="10800000" flipH="1">
            <a:off x="676775" y="2096132"/>
            <a:ext cx="3234300" cy="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67"/>
          <p:cNvCxnSpPr/>
          <p:nvPr/>
        </p:nvCxnSpPr>
        <p:spPr>
          <a:xfrm>
            <a:off x="1218200" y="2918457"/>
            <a:ext cx="216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67"/>
          <p:cNvCxnSpPr/>
          <p:nvPr/>
        </p:nvCxnSpPr>
        <p:spPr>
          <a:xfrm rot="10800000" flipH="1">
            <a:off x="1808850" y="3693682"/>
            <a:ext cx="1021200" cy="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med" len="med"/>
            <a:tailEnd type="none" w="med" len="med"/>
          </a:ln>
        </p:spPr>
      </p:cxnSp>
      <p:pic>
        <p:nvPicPr>
          <p:cNvPr id="5" name="Google Shape;225;p5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010" y="131697"/>
            <a:ext cx="1787598" cy="40799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4691380" y="419100"/>
            <a:ext cx="4390390" cy="463740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Problem Statement &amp; plan</a:t>
            </a:r>
            <a:endParaRPr lang="en-US" altLang="zh-CN" sz="2000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Defining the Challenge: The complexity of central bank language and its impact on public trust.</a:t>
            </a:r>
            <a:endParaRPr lang="en-US" altLang="zh-CN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Our Plan: To use a lightweight, fine-tuned LLM to simplify these communications without losing meaning.</a:t>
            </a:r>
            <a:endParaRPr lang="en-US" altLang="zh-CN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Methodology</a:t>
            </a:r>
            <a:endParaRPr lang="en-US" altLang="zh-CN" sz="2000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Our Technical Approach: The process of fine-tuning the Vikhr-Llama model using Unsupervised Style Transfer.</a:t>
            </a:r>
            <a:endParaRPr lang="en-US" altLang="zh-CN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Overcoming Hurdles: How we navigated hardware limitations, dependency issues, and data integrity problems.</a:t>
            </a:r>
            <a:endParaRPr lang="en-US" altLang="zh-CN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Result &amp; Recommendation</a:t>
            </a:r>
            <a:endParaRPr lang="en-US" altLang="zh-CN" sz="2000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Our Findings: Presenting clear, "before-and-after" examples of simplified text and the measurable improvement in key metrics.</a:t>
            </a:r>
            <a:endParaRPr lang="en-US" altLang="zh-CN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>
                <a:solidFill>
                  <a:srgbClr val="1B1C1D"/>
                </a:solidFill>
                <a:latin typeface="+mj-lt"/>
                <a:ea typeface="Google Sans Text"/>
                <a:cs typeface="+mj-lt"/>
              </a:rPr>
              <a:t>Next Steps: Proposing actionable recommendations for integration and future research.</a:t>
            </a:r>
            <a:endParaRPr lang="en-US" altLang="zh-CN">
              <a:solidFill>
                <a:srgbClr val="1B1C1D"/>
              </a:solidFill>
              <a:latin typeface="+mj-lt"/>
              <a:ea typeface="Google Sans Text"/>
              <a:cs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180" y="433705"/>
            <a:ext cx="4665345" cy="858520"/>
          </a:xfrm>
        </p:spPr>
        <p:txBody>
          <a:bodyPr/>
          <a:p>
            <a:pPr algn="ctr"/>
            <a:r>
              <a:rPr lang="en-US" altLang="en-US" sz="15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The Challenge &amp; Our Solution</a:t>
            </a:r>
            <a:br>
              <a:rPr lang="en-US" altLang="en-US" sz="15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</a:rPr>
            </a:br>
            <a:r>
              <a:rPr lang="en-US" altLang="en-US" sz="15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Enhancing Central Bank Communication with AI</a:t>
            </a:r>
            <a:endParaRPr lang="en-US" altLang="en-US" sz="15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058545"/>
            <a:ext cx="4495165" cy="3557905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The Problem:</a:t>
            </a:r>
            <a:r>
              <a:rPr lang="en-US" altLang="en-US" sz="1400">
                <a:solidFill>
                  <a:schemeClr val="dk1"/>
                </a:solidFill>
                <a:sym typeface="+mn-ea"/>
              </a:rPr>
              <a:t> Official communications from central banks are often filled with technical jargon and complex language, making them inaccessible to the public.</a:t>
            </a:r>
            <a:endParaRPr lang="en-US" altLang="en-US" sz="1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Why It's Important:</a:t>
            </a:r>
            <a:r>
              <a:rPr lang="en-US" altLang="en-US" sz="1400">
                <a:solidFill>
                  <a:schemeClr val="dk1"/>
                </a:solidFill>
                <a:sym typeface="+mn-ea"/>
              </a:rPr>
              <a:t> This lack of clarity can undermine public trust and weaken the impact of monetary policy.</a:t>
            </a:r>
            <a:endParaRPr lang="en-US" altLang="en-US" sz="1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Our Solution: </a:t>
            </a:r>
            <a:r>
              <a:rPr lang="en-US" altLang="en-US" sz="1400">
                <a:solidFill>
                  <a:schemeClr val="dk1"/>
                </a:solidFill>
                <a:sym typeface="+mn-ea"/>
              </a:rPr>
              <a:t>We use a compact and efficient Large Language Model (LLM) to simplify complex regulatory language into clear, accessible Russian.</a:t>
            </a:r>
            <a:endParaRPr lang="en-US" altLang="en-US" sz="1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Model:</a:t>
            </a:r>
            <a:r>
              <a:rPr lang="en-US" altLang="en-US" sz="1400">
                <a:solidFill>
                  <a:schemeClr val="dk1"/>
                </a:solidFill>
                <a:sym typeface="+mn-ea"/>
              </a:rPr>
              <a:t> Vikhr-Llama-3.2-1B-instruct, a lightweight model ideal for real-world deployment.</a:t>
            </a:r>
            <a:endParaRPr lang="en-US" altLang="en-US" sz="14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251" name="Google Shape;251;p5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8360" y="1292225"/>
            <a:ext cx="2579370" cy="2582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180" y="376555"/>
            <a:ext cx="4665345" cy="858520"/>
          </a:xfrm>
        </p:spPr>
        <p:txBody>
          <a:bodyPr/>
          <a:p>
            <a:pPr algn="ctr"/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The Challenge &amp; Our Solution</a:t>
            </a:r>
            <a:b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</a:rPr>
            </a:b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Enhancing Central Bank Communication with AI</a:t>
            </a:r>
            <a:endParaRPr lang="en-US" altLang="en-US" sz="14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365" y="1141095"/>
            <a:ext cx="4572635" cy="3751580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Our Process: </a:t>
            </a:r>
            <a:r>
              <a:rPr lang="en-US" altLang="en-US" sz="1400">
                <a:solidFill>
                  <a:schemeClr val="dk1"/>
                </a:solidFill>
                <a:sym typeface="+mn-ea"/>
              </a:rPr>
              <a:t>We transform dense text into clear communication through a rigorous funnel:</a:t>
            </a: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Simplify with LLM </a:t>
            </a:r>
            <a:endParaRPr lang="en-US" altLang="en-US" sz="14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400">
                <a:solidFill>
                  <a:schemeClr val="dk1"/>
                </a:solidFill>
                <a:sym typeface="+mn-ea"/>
              </a:rPr>
              <a:t>Evaluate Transparency (AlinaEstimator) </a:t>
            </a: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400">
                <a:solidFill>
                  <a:schemeClr val="dk1"/>
                </a:solidFill>
                <a:sym typeface="+mn-ea"/>
              </a:rPr>
              <a:t>Evaluate Readability (ARIEstimator) </a:t>
            </a: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400">
                <a:solidFill>
                  <a:schemeClr val="dk1"/>
                </a:solidFill>
                <a:sym typeface="+mn-ea"/>
              </a:rPr>
              <a:t>Expert Review</a:t>
            </a:r>
            <a:endParaRPr lang="en-US" altLang="en-US" sz="14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" y="1315720"/>
            <a:ext cx="429641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180" y="376555"/>
            <a:ext cx="4665345" cy="858520"/>
          </a:xfrm>
        </p:spPr>
        <p:txBody>
          <a:bodyPr/>
          <a:p>
            <a:pPr algn="ctr"/>
            <a:r>
              <a:rPr lang="en-US" altLang="en-US" sz="16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 Methodology: From Roadblock to Breakthrough</a:t>
            </a:r>
            <a:endParaRPr lang="en-US" altLang="en-US" sz="16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0890" y="1315720"/>
            <a:ext cx="4475480" cy="2654935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How We Trained the Model</a:t>
            </a:r>
            <a:endParaRPr lang="en-US" altLang="en-US" sz="12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Initial Goal: 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Supervised Fine-Tuning (SFT)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The standard approach, SFT, requires a paired dataset of "complex" and "simple" texts to teach the model a direct transformation.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The Roadblock: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 The Synthetic Data Bottleneck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Creating the required paired dataset was infeasible due to resource and access restrictions in our development environment.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b="7556"/>
          <a:stretch>
            <a:fillRect/>
          </a:stretch>
        </p:blipFill>
        <p:spPr>
          <a:xfrm>
            <a:off x="77470" y="0"/>
            <a:ext cx="4017010" cy="517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180" y="376555"/>
            <a:ext cx="4665345" cy="858520"/>
          </a:xfrm>
        </p:spPr>
        <p:txBody>
          <a:bodyPr/>
          <a:p>
            <a:pPr algn="ctr"/>
            <a:r>
              <a:rPr lang="en-US" altLang="en-US" sz="16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 Methodology: From Roadblock to Breakthrough</a:t>
            </a:r>
            <a:endParaRPr lang="en-US" altLang="en-US" sz="16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365" y="1141095"/>
            <a:ext cx="4572635" cy="3751580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The Pivot: 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Unsupervised Style Transfer (UST)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Faced with constraints, we adopted a more practical approach: Unsupervised Style Transfer.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Phase 1: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 Style-Tuning: We fine-tuned the model exclusively on a dataset of simple, clear financial texts. This imbued the model with a strong stylistic preference for clarity.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Phase 2: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 Prompt-Based Inference: We then used strong instructional prompts to guide the "style-tuned" model to rewrite complex texts in the simple style it had learned.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Overcoming Hurdles: 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This process required solving significant technical challenges related to hardware (NPU), outdated libraries, and data integrity.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42989"/>
          <a:stretch>
            <a:fillRect/>
          </a:stretch>
        </p:blipFill>
        <p:spPr>
          <a:xfrm>
            <a:off x="164465" y="755650"/>
            <a:ext cx="3766185" cy="3631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180" y="376555"/>
            <a:ext cx="4665345" cy="858520"/>
          </a:xfrm>
        </p:spPr>
        <p:txBody>
          <a:bodyPr/>
          <a:p>
            <a:pPr algn="ctr"/>
            <a:r>
              <a:rPr lang="en-US" altLang="en-US" sz="2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A Closer Look at the Datasets</a:t>
            </a:r>
            <a:endParaRPr lang="en-US" altLang="en-US" sz="24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365" y="1024255"/>
            <a:ext cx="4495800" cy="4022725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Dataset Overview</a:t>
            </a:r>
            <a:endParaRPr lang="en-US" altLang="en-US" sz="14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Source:</a:t>
            </a:r>
            <a:r>
              <a:rPr lang="en-US" altLang="en-US" sz="1400">
                <a:solidFill>
                  <a:schemeClr val="dk1"/>
                </a:solidFill>
                <a:sym typeface="+mn-ea"/>
              </a:rPr>
              <a:t> The input data consists of Russian-language financial texts from the Bank of Russia.</a:t>
            </a: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Structure: </a:t>
            </a:r>
            <a:r>
              <a:rPr lang="en-US" altLang="en-US" sz="1400">
                <a:solidFill>
                  <a:schemeClr val="dk1"/>
                </a:solidFill>
                <a:sym typeface="+mn-ea"/>
              </a:rPr>
              <a:t>Each text entry includes a unique ID, pre-evaluated scores, the original text, and a word count.</a:t>
            </a: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Evaluation Corpus: </a:t>
            </a:r>
            <a:r>
              <a:rPr lang="en-US" altLang="en-US" sz="1400">
                <a:solidFill>
                  <a:schemeClr val="dk1"/>
                </a:solidFill>
                <a:sym typeface="+mn-ea"/>
              </a:rPr>
              <a:t>The evaluation metrics were developed using a corpus of 10,000 Russian texts, which were classified into ten distinct readability levels.</a:t>
            </a: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35" y="1345565"/>
            <a:ext cx="4213225" cy="2275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7860" y="319405"/>
            <a:ext cx="4665345" cy="858520"/>
          </a:xfrm>
        </p:spPr>
        <p:txBody>
          <a:bodyPr/>
          <a:p>
            <a:pPr algn="ctr"/>
            <a:r>
              <a:rPr lang="en-US" altLang="en-US" sz="24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A Closer Look at the Datasets</a:t>
            </a:r>
            <a:endParaRPr lang="en-US" altLang="en-US" sz="24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365" y="1024255"/>
            <a:ext cx="4495800" cy="4022725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Training Datasets for Fine-Tuning</a:t>
            </a:r>
            <a:endParaRPr lang="en-US" altLang="en-US" sz="12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Our methodology required separating the source data into two distinct, unpaired collections: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bad_texts.json: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 This collection contained complex financial sentences characterized by low readability scores.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good_texts.json: 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This collection consisted of simple, clear sentences with high readability scores.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Unsupervised Approach: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 Because the "bad" and "good" examples were not directly paired, a standard Supervised Fine-Tuning (SFT) was not possible. The 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good_texts.json dataset was used exclusively in the "style-tuning" phase of our Unsupervised Style Transfer approach to teach the model the patterns of clear financial language.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" y="723265"/>
            <a:ext cx="5059680" cy="4022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180" y="376555"/>
            <a:ext cx="4665345" cy="858520"/>
          </a:xfrm>
        </p:spPr>
        <p:txBody>
          <a:bodyPr/>
          <a:p>
            <a:pPr algn="ctr"/>
            <a:r>
              <a:rPr lang="en-US" altLang="en-US" sz="28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 Results &amp; Discussion</a:t>
            </a:r>
            <a:endParaRPr lang="en-US" altLang="en-US" sz="28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365" y="1024255"/>
            <a:ext cx="4495800" cy="4022725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Measurable Success</a:t>
            </a:r>
            <a:endParaRPr lang="en-US" altLang="en-US" sz="12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Proven Success: 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Our Unsupervised Style Transfer method successfully simplified complex financial text while preserving all critical numerical data.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Example of a Successful Simplification: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The model deconstructed a dense sentence into multiple, more digestible parts.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All key data (770 billion rubles, -14%, -5%, +8%) was preserved accurately.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Quantifiable Improvement: The simplified text showed significant improvement in our core metrics.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Transparency (AlinaEstimator): The score doubled from 3 to 6, indicating much clearer communication.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dk1"/>
                </a:solidFill>
                <a:sym typeface="+mn-ea"/>
              </a:rPr>
              <a:t>Readability (ARIEstimator): The score decreased from 6.4 to 6.1, meaning the text is easier to understand.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2745"/>
            <a:ext cx="4411345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180" y="376555"/>
            <a:ext cx="4665345" cy="858520"/>
          </a:xfrm>
        </p:spPr>
        <p:txBody>
          <a:bodyPr/>
          <a:p>
            <a:pPr algn="ctr"/>
            <a:r>
              <a:rPr lang="en-US" altLang="en-US" sz="2800">
                <a:solidFill>
                  <a:schemeClr val="dk1"/>
                </a:solidFill>
                <a:sym typeface="+mn-ea"/>
              </a:rPr>
              <a:t>Recommendations</a:t>
            </a:r>
            <a:endParaRPr lang="en-US" altLang="en-US" sz="28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365" y="916940"/>
            <a:ext cx="4495800" cy="3566795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Actionable Recommendations</a:t>
            </a:r>
            <a:endParaRPr lang="en-US" altLang="en-US" sz="12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Integrate into Workflows: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 The Bank of Russia should consider integrating this model as an assistive tool to generate initial drafts of press releases and reports for human expert review.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Continuous Model Refinement: 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Improve the model by expanding the training dataset with a wider variety of historical documents and speech transcripts. A feedback loop using expert corrections should be implemented for ongoing fine-tuning.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Promote Broader Application: 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Other government agencies, both in Russia and internationally, could adapt this efficient and transferable methodology to improve their own communications.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916940"/>
            <a:ext cx="4236085" cy="3054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180" y="376555"/>
            <a:ext cx="4665345" cy="858520"/>
          </a:xfrm>
        </p:spPr>
        <p:txBody>
          <a:bodyPr/>
          <a:p>
            <a:pPr algn="ctr"/>
            <a:r>
              <a:rPr lang="en-US" altLang="en-US" sz="2800">
                <a:solidFill>
                  <a:schemeClr val="dk1"/>
                </a:solidFill>
                <a:sym typeface="+mn-ea"/>
              </a:rPr>
              <a:t>Future Research Directions</a:t>
            </a:r>
            <a:endParaRPr lang="en-US" altLang="en-US" sz="28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365" y="1024255"/>
            <a:ext cx="4495800" cy="4022725"/>
          </a:xfrm>
        </p:spPr>
        <p:txBody>
          <a:bodyPr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Quantitative Impact Assessment: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 Conduct surveys and A/B tests with diverse audiences to quantitatively measure the real-world impact of the simplified texts on public comprehension and trust.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Explore Multimodality: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 Future research should explore multimodal LLMs capable of interpreting and simplifying information from various formats like charts, graphs, and videos.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dk1"/>
              </a:solidFill>
              <a:sym typeface="+mn-e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Develop Ethical Guardrails: </a:t>
            </a:r>
            <a:r>
              <a:rPr lang="en-US" altLang="en-US" sz="1200">
                <a:solidFill>
                  <a:schemeClr val="dk1"/>
                </a:solidFill>
                <a:sym typeface="+mn-ea"/>
              </a:rPr>
              <a:t>Further research into explainability (XAI) is needed to help human overseers understand the model's choices, which builds trust and ensures responsible deployment.</a:t>
            </a:r>
            <a:endParaRPr lang="en-US" altLang="en-US" sz="12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" y="1759585"/>
            <a:ext cx="4429125" cy="19424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226;p53"/>
          <p:cNvGrpSpPr/>
          <p:nvPr/>
        </p:nvGrpSpPr>
        <p:grpSpPr>
          <a:xfrm>
            <a:off x="2892350" y="1381125"/>
            <a:ext cx="972000" cy="1066225"/>
            <a:chOff x="2892350" y="1381125"/>
            <a:chExt cx="972000" cy="1066225"/>
          </a:xfrm>
        </p:grpSpPr>
        <p:pic>
          <p:nvPicPr>
            <p:cNvPr id="42" name="Google Shape;227;p53" descr="/Users/mac/Downloads/dinar.jpgdinar"/>
            <p:cNvPicPr preferRelativeResize="0"/>
            <p:nvPr/>
          </p:nvPicPr>
          <p:blipFill rotWithShape="1">
            <a:blip r:embed="rId1"/>
            <a:srcRect t="10670" b="33081"/>
            <a:stretch>
              <a:fillRect/>
            </a:stretch>
          </p:blipFill>
          <p:spPr>
            <a:xfrm>
              <a:off x="2892350" y="1381125"/>
              <a:ext cx="972000" cy="972000"/>
            </a:xfrm>
            <a:prstGeom prst="ellipse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pic>
        <p:sp>
          <p:nvSpPr>
            <p:cNvPr id="43" name="Google Shape;228;p53"/>
            <p:cNvSpPr/>
            <p:nvPr/>
          </p:nvSpPr>
          <p:spPr>
            <a:xfrm>
              <a:off x="3306350" y="2303350"/>
              <a:ext cx="144000" cy="14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 i="0" u="none" strike="noStrike" cap="none">
                  <a:solidFill>
                    <a:schemeClr val="lt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3</a:t>
              </a:r>
              <a:endParaRPr sz="700" b="1" i="0" u="none" strike="noStrik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4" name="Google Shape;233;p53"/>
          <p:cNvGrpSpPr/>
          <p:nvPr/>
        </p:nvGrpSpPr>
        <p:grpSpPr>
          <a:xfrm>
            <a:off x="341715" y="2640687"/>
            <a:ext cx="972000" cy="1060924"/>
            <a:chOff x="341715" y="2640687"/>
            <a:chExt cx="972000" cy="1060924"/>
          </a:xfrm>
        </p:grpSpPr>
        <p:sp>
          <p:nvSpPr>
            <p:cNvPr id="45" name="Google Shape;234;p53"/>
            <p:cNvSpPr/>
            <p:nvPr/>
          </p:nvSpPr>
          <p:spPr>
            <a:xfrm>
              <a:off x="341715" y="2640687"/>
              <a:ext cx="972000" cy="9720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46" name="Google Shape;235;p53"/>
            <p:cNvPicPr preferRelativeResize="0"/>
            <p:nvPr/>
          </p:nvPicPr>
          <p:blipFill>
            <a:blip r:embed="rId2"/>
            <a:srcRect l="-1373" t="6141" r="1373" b="20406"/>
            <a:stretch>
              <a:fillRect/>
            </a:stretch>
          </p:blipFill>
          <p:spPr>
            <a:xfrm rot="157621">
              <a:off x="363749" y="2682475"/>
              <a:ext cx="946013" cy="925965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</p:pic>
        <p:sp>
          <p:nvSpPr>
            <p:cNvPr id="47" name="Google Shape;236;p53"/>
            <p:cNvSpPr/>
            <p:nvPr/>
          </p:nvSpPr>
          <p:spPr>
            <a:xfrm>
              <a:off x="754164" y="3557611"/>
              <a:ext cx="144000" cy="14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 i="0" u="none" strike="noStrike" cap="none">
                  <a:solidFill>
                    <a:schemeClr val="lt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4</a:t>
              </a:r>
              <a:endParaRPr sz="700" b="1" i="0" u="none" strike="noStrik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8" name="Google Shape;237;p53"/>
          <p:cNvGrpSpPr/>
          <p:nvPr/>
        </p:nvGrpSpPr>
        <p:grpSpPr>
          <a:xfrm>
            <a:off x="1617033" y="1381125"/>
            <a:ext cx="972000" cy="1066225"/>
            <a:chOff x="1609239" y="1381125"/>
            <a:chExt cx="972000" cy="1066225"/>
          </a:xfrm>
        </p:grpSpPr>
        <p:grpSp>
          <p:nvGrpSpPr>
            <p:cNvPr id="49" name="Google Shape;238;p53"/>
            <p:cNvGrpSpPr/>
            <p:nvPr/>
          </p:nvGrpSpPr>
          <p:grpSpPr>
            <a:xfrm>
              <a:off x="1609239" y="1381125"/>
              <a:ext cx="972000" cy="972000"/>
              <a:chOff x="1609239" y="1381125"/>
              <a:chExt cx="972000" cy="972000"/>
            </a:xfrm>
          </p:grpSpPr>
          <p:sp>
            <p:nvSpPr>
              <p:cNvPr id="51" name="Google Shape;239;p53"/>
              <p:cNvSpPr/>
              <p:nvPr/>
            </p:nvSpPr>
            <p:spPr>
              <a:xfrm>
                <a:off x="1609239" y="1381125"/>
                <a:ext cx="972000" cy="972000"/>
              </a:xfrm>
              <a:prstGeom prst="ellipse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pic>
            <p:nvPicPr>
              <p:cNvPr id="52" name="Google Shape;240;p53"/>
              <p:cNvPicPr preferRelativeResize="0"/>
              <p:nvPr/>
            </p:nvPicPr>
            <p:blipFill>
              <a:blip r:embed="rId3"/>
              <a:srcRect l="1331" t="765" r="-1331" b="24235"/>
              <a:stretch>
                <a:fillRect/>
              </a:stretch>
            </p:blipFill>
            <p:spPr>
              <a:xfrm>
                <a:off x="1623331" y="1395218"/>
                <a:ext cx="946800" cy="9468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  <p:sp>
          <p:nvSpPr>
            <p:cNvPr id="50" name="Google Shape;241;p53"/>
            <p:cNvSpPr/>
            <p:nvPr/>
          </p:nvSpPr>
          <p:spPr>
            <a:xfrm>
              <a:off x="2023239" y="2303350"/>
              <a:ext cx="144000" cy="14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 i="0" u="none" strike="noStrike" cap="none">
                  <a:solidFill>
                    <a:schemeClr val="lt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2</a:t>
              </a:r>
              <a:endParaRPr sz="700" b="1" i="0" u="none" strike="noStrik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pic>
        <p:nvPicPr>
          <p:cNvPr id="53" name="Google Shape;225;p5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2010" y="131697"/>
            <a:ext cx="1787598" cy="407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229;p53"/>
          <p:cNvGrpSpPr/>
          <p:nvPr/>
        </p:nvGrpSpPr>
        <p:grpSpPr>
          <a:xfrm>
            <a:off x="387434" y="1381125"/>
            <a:ext cx="972000" cy="1066225"/>
            <a:chOff x="341715" y="1381125"/>
            <a:chExt cx="972000" cy="1066225"/>
          </a:xfrm>
        </p:grpSpPr>
        <p:sp>
          <p:nvSpPr>
            <p:cNvPr id="55" name="Google Shape;230;p53"/>
            <p:cNvSpPr/>
            <p:nvPr/>
          </p:nvSpPr>
          <p:spPr>
            <a:xfrm>
              <a:off x="341715" y="1381125"/>
              <a:ext cx="972000" cy="9720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56" name="Google Shape;231;p53"/>
            <p:cNvPicPr preferRelativeResize="0"/>
            <p:nvPr/>
          </p:nvPicPr>
          <p:blipFill>
            <a:blip r:embed="rId5"/>
            <a:srcRect l="10066" t="12331" r="9803" b="30451"/>
            <a:stretch>
              <a:fillRect/>
            </a:stretch>
          </p:blipFill>
          <p:spPr>
            <a:xfrm>
              <a:off x="354315" y="1393725"/>
              <a:ext cx="946800" cy="9468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57" name="Google Shape;232;p53"/>
            <p:cNvSpPr/>
            <p:nvPr/>
          </p:nvSpPr>
          <p:spPr>
            <a:xfrm>
              <a:off x="754164" y="2303350"/>
              <a:ext cx="144000" cy="14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 i="0" u="none" strike="noStrike" cap="none">
                  <a:solidFill>
                    <a:schemeClr val="lt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1</a:t>
              </a:r>
              <a:endParaRPr sz="700" b="1" i="0" u="none" strike="noStrik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4582160" y="375920"/>
            <a:ext cx="4487545" cy="4667250"/>
          </a:xfrm>
          <a:prstGeom prst="rect">
            <a:avLst/>
          </a:prstGeom>
        </p:spPr>
        <p:txBody>
          <a:bodyPr>
            <a:noAutofit/>
          </a:bodyPr>
          <a:p>
            <a:pPr algn="just">
              <a:lnSpc>
                <a:spcPct val="100000"/>
              </a:lnSpc>
              <a:spcAft>
                <a:spcPct val="60000"/>
              </a:spcAft>
            </a:pPr>
            <a:r>
              <a:rPr lang="en-US" altLang="zh-CN" b="1"/>
              <a:t>Dinar Galimov</a:t>
            </a:r>
            <a:endParaRPr lang="en-US" altLang="zh-CN" b="1"/>
          </a:p>
          <a:p>
            <a:pPr algn="just">
              <a:lnSpc>
                <a:spcPct val="100000"/>
              </a:lnSpc>
              <a:spcAft>
                <a:spcPct val="60000"/>
              </a:spcAft>
            </a:pPr>
            <a:r>
              <a:rPr lang="en-US" altLang="zh-CN" sz="1000"/>
              <a:t>Affiliation: Harbin Institute of Technology</a:t>
            </a:r>
            <a:endParaRPr lang="en-US" altLang="zh-CN" sz="1000"/>
          </a:p>
          <a:p>
            <a:pPr marL="171450" indent="-171450" algn="just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1000"/>
              <a:t>Executed the testing phase, applying the AlinaEstimator and ARIEstimator metrics to measure the output quality.</a:t>
            </a:r>
            <a:endParaRPr lang="en-US" altLang="en-US" sz="1000"/>
          </a:p>
          <a:p>
            <a:pPr marL="171450" indent="-171450" algn="just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000">
                <a:sym typeface="+mn-ea"/>
              </a:rPr>
              <a:t>Performed final evaluation on simplified text outputs &amp; </a:t>
            </a:r>
            <a:r>
              <a:rPr lang="en-US" altLang="zh-CN" sz="1000">
                <a:sym typeface="+mn-ea"/>
              </a:rPr>
              <a:t>Led literature review </a:t>
            </a:r>
            <a:endParaRPr lang="en-US" altLang="zh-CN" sz="1000"/>
          </a:p>
          <a:p>
            <a:pPr algn="just">
              <a:lnSpc>
                <a:spcPct val="100000"/>
              </a:lnSpc>
              <a:spcAft>
                <a:spcPct val="60000"/>
              </a:spcAft>
            </a:pPr>
            <a:r>
              <a:rPr lang="en-US" altLang="zh-CN" b="1"/>
              <a:t>Abdulrahman Nabil Abdo Al-sameai</a:t>
            </a:r>
            <a:endParaRPr lang="en-US" altLang="zh-CN" b="1"/>
          </a:p>
          <a:p>
            <a:pPr algn="just">
              <a:lnSpc>
                <a:spcPct val="100000"/>
              </a:lnSpc>
            </a:pPr>
            <a:r>
              <a:rPr lang="en-US" altLang="zh-CN" sz="1000"/>
              <a:t>Affiliation:Yangzhou University</a:t>
            </a:r>
            <a:endParaRPr lang="en-US" altLang="zh-CN" sz="1000"/>
          </a:p>
          <a:p>
            <a:pPr algn="just">
              <a:lnSpc>
                <a:spcPct val="100000"/>
              </a:lnSpc>
            </a:pPr>
            <a:endParaRPr lang="en-US" altLang="zh-CN" sz="1000"/>
          </a:p>
          <a:p>
            <a:pPr marL="171450" indent="-171450" algn="just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000"/>
              <a:t>Managed complex/simple text dataset preparation</a:t>
            </a:r>
            <a:endParaRPr lang="en-US" altLang="zh-CN" sz="1000"/>
          </a:p>
          <a:p>
            <a:pPr marL="171450" indent="-171450" algn="just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000"/>
              <a:t>Configured training environment; resolved NPU &amp; software issues</a:t>
            </a:r>
            <a:endParaRPr lang="en-US" altLang="zh-CN" sz="1000"/>
          </a:p>
          <a:p>
            <a:pPr algn="just">
              <a:lnSpc>
                <a:spcPct val="100000"/>
              </a:lnSpc>
              <a:spcAft>
                <a:spcPct val="60000"/>
              </a:spcAft>
            </a:pPr>
            <a:r>
              <a:rPr lang="en-US" altLang="zh-CN" b="1">
                <a:sym typeface="+mn-ea"/>
              </a:rPr>
              <a:t>Al-haimady </a:t>
            </a:r>
            <a:r>
              <a:rPr lang="en-US" altLang="zh-CN" b="1"/>
              <a:t>Osama Yahya Mohammed Ahmed</a:t>
            </a:r>
            <a:endParaRPr lang="en-US" altLang="zh-CN" b="1"/>
          </a:p>
          <a:p>
            <a:pPr algn="just">
              <a:lnSpc>
                <a:spcPct val="100000"/>
              </a:lnSpc>
            </a:pPr>
            <a:r>
              <a:rPr lang="en-US" altLang="zh-CN" sz="1000"/>
              <a:t>Affiliation:Yangzhou University</a:t>
            </a:r>
            <a:endParaRPr lang="en-US" altLang="zh-CN" sz="1000"/>
          </a:p>
          <a:p>
            <a:pPr algn="just">
              <a:lnSpc>
                <a:spcPct val="100000"/>
              </a:lnSpc>
            </a:pPr>
            <a:endParaRPr lang="en-US" altLang="zh-CN" sz="1000"/>
          </a:p>
          <a:p>
            <a:pPr marL="171450" indent="-171450" algn="just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000"/>
              <a:t>Fine-tuned Vikhr-Llama-3.2-1B-instruct using Unsupervised Style Transfer</a:t>
            </a:r>
            <a:endParaRPr lang="en-US" altLang="zh-CN" sz="1000"/>
          </a:p>
          <a:p>
            <a:pPr marL="171450" indent="-171450" algn="just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000"/>
              <a:t>Implemented style-tuning, prompt-based inference, and resolved data integrity issues</a:t>
            </a:r>
            <a:endParaRPr lang="en-US" altLang="zh-CN" sz="1000"/>
          </a:p>
          <a:p>
            <a:pPr algn="just">
              <a:lnSpc>
                <a:spcPct val="100000"/>
              </a:lnSpc>
              <a:spcAft>
                <a:spcPct val="60000"/>
              </a:spcAft>
            </a:pPr>
            <a:r>
              <a:rPr lang="en-US" altLang="zh-CN" b="1"/>
              <a:t>Umar Muhammad Mustapha Kumshe</a:t>
            </a:r>
            <a:endParaRPr lang="en-US" altLang="zh-CN" b="1"/>
          </a:p>
          <a:p>
            <a:pPr algn="just">
              <a:lnSpc>
                <a:spcPct val="100000"/>
              </a:lnSpc>
            </a:pPr>
            <a:r>
              <a:rPr lang="en-US" altLang="zh-CN" sz="1000"/>
              <a:t>Affiliation:Hohai University</a:t>
            </a:r>
            <a:endParaRPr lang="en-US" altLang="zh-CN" sz="1000"/>
          </a:p>
          <a:p>
            <a:pPr algn="just">
              <a:lnSpc>
                <a:spcPct val="100000"/>
              </a:lnSpc>
            </a:pPr>
            <a:endParaRPr lang="en-US" altLang="zh-CN" sz="1000"/>
          </a:p>
          <a:p>
            <a:pPr marL="171450" indent="-171450" algn="just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000"/>
              <a:t>Prepared final report, including limitations and future recommendations.</a:t>
            </a:r>
            <a:endParaRPr lang="en-US" altLang="zh-CN" sz="1000"/>
          </a:p>
          <a:p>
            <a:pPr marL="171450" indent="-171450" algn="just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000">
                <a:sym typeface="+mn-ea"/>
              </a:rPr>
              <a:t>Guided pivot to Unsupervised Style Transfer due to project constraints.</a:t>
            </a:r>
            <a:endParaRPr lang="en-US" altLang="zh-CN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7"/>
          <p:cNvSpPr txBox="1"/>
          <p:nvPr/>
        </p:nvSpPr>
        <p:spPr>
          <a:xfrm>
            <a:off x="2971332" y="2131767"/>
            <a:ext cx="3201336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25" tIns="25325" rIns="50625" bIns="25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/>
              <a:t>Thank you !!</a:t>
            </a:r>
            <a:endParaRPr sz="4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6855</Words>
  <Application>WPS Writer</Application>
  <PresentationFormat>On-screen Show (16:9)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Arial</vt:lpstr>
      <vt:lpstr>Microsoft YaHei</vt:lpstr>
      <vt:lpstr>汉仪旗黑</vt:lpstr>
      <vt:lpstr>Arial Unicode MS</vt:lpstr>
      <vt:lpstr>Arial Bold</vt:lpstr>
      <vt:lpstr>汉仪书宋二KW</vt:lpstr>
      <vt:lpstr>SimSun</vt:lpstr>
      <vt:lpstr>Google Sans Text</vt:lpstr>
      <vt:lpstr>Thonburi</vt:lpstr>
      <vt:lpstr>Simple Light</vt:lpstr>
      <vt:lpstr>Office Theme</vt:lpstr>
      <vt:lpstr>Office Theme</vt:lpstr>
      <vt:lpstr>Office Theme</vt:lpstr>
      <vt:lpstr>PowerPoint 演示文稿</vt:lpstr>
      <vt:lpstr>PowerPoint 演示文稿</vt:lpstr>
      <vt:lpstr>The Challenge &amp; Our Solution Enhancing Central Bank Communication with AI</vt:lpstr>
      <vt:lpstr>PowerPoint 演示文稿</vt:lpstr>
      <vt:lpstr> Methodology: From Roadblock to Breakthrough</vt:lpstr>
      <vt:lpstr>The Challenge &amp; Our Solution Enhancing Central Bank Communication with AI</vt:lpstr>
      <vt:lpstr>Future Research Directions</vt:lpstr>
      <vt:lpstr>A Closer Look at the Datasets</vt:lpstr>
      <vt:lpstr> Methodology: From Roadblock to Breakthrough</vt:lpstr>
      <vt:lpstr> Results &amp; Discussion</vt:lpstr>
      <vt:lpstr>Recommendations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عبدالرحمن نبيل السامعي</dc:creator>
  <cp:lastModifiedBy>Muhammad umar</cp:lastModifiedBy>
  <cp:revision>38</cp:revision>
  <dcterms:created xsi:type="dcterms:W3CDTF">2025-07-25T13:38:07Z</dcterms:created>
  <dcterms:modified xsi:type="dcterms:W3CDTF">2025-07-25T13:38:07Z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5ABCE4F682D7C43C577283683704285D_43</vt:lpwstr>
  </property>
  <property fmtid="{D5CDD505-2E9C-101B-9397-08002B2CF9AE}" pid="3" name="KSOProductBuildVer">
    <vt:lpwstr>1033-12.1.21937.21937</vt:lpwstr>
  </property>
</Properties>
</file>